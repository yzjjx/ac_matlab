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F7BE91A-4AF7-4F4F-ACCB-A16E8F81AE8D}">
          <p14:sldIdLst>
            <p14:sldId id="258"/>
            <p14:sldId id="262"/>
          </p14:sldIdLst>
        </p14:section>
        <p14:section name="不理解的地方" id="{EAB8D0E1-3411-4B0C-A0DC-D74AC59AC647}">
          <p14:sldIdLst>
            <p14:sldId id="259"/>
          </p14:sldIdLst>
        </p14:section>
        <p14:section name="构建实际控制律" id="{88419DF4-7DDA-4EA2-9340-E9C9CB3E20F5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EE3B4-D24E-FDA3-F5A3-65FF8CF1A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BFA257-0B40-38DE-D921-EB2722E6F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2BEF54-5F63-452D-80C4-51014825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16788-87B5-ED36-3B85-13918877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1CA31-30BE-3112-CD63-4D30BA46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18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344BE-0528-9648-4B92-BDA4C309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AF9FC-7D7D-B3E2-6BA3-A46D57BB7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1820D-FF51-D311-FF14-8C32A74F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C79D6-2ECB-82F9-A8FC-E7981E67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0D213A-F16C-3B74-0E57-34B3FA4B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69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CBCC8-BC92-AD8B-9FF8-A58A55D47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1BC6F-CF37-8A98-DB38-9DF17047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2FF8F2-6B75-4F11-E236-7602FDF1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09C52F-2668-CE49-220F-89ADD56A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65B9C-99E6-2E3E-1004-1FD78A0E7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16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DCB31-813E-A96F-A050-19F8A2A93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3B2CC-A7E4-2367-9ADF-733B76F1B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0F3073-0706-7FCD-B293-0DB58FA47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4401D5-562D-C1EA-496F-CEC56839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67B2D8-9EC4-7CB0-EA06-ECDAF914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1A5CD2-33F6-975E-AF4C-1A19F799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42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32DF2-B429-C9B3-A050-05946D964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174CD3-DABF-369D-1B2C-7F62DDEC9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2A511D-894F-5E87-7321-7518AB48F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7A487D-B729-78E6-BED8-9A795F9A8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4D3A8-A239-F2D5-6548-D57E1DCB7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D7DA3A-0D70-E1D9-185C-4ED813885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A7EF32-04E5-C43F-BC3E-CB9D9382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EDF3F6-DFF0-A96D-83A6-420D8C62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9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028AA-5602-2593-6998-2C946425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7BF74C-46CD-21D3-B48D-6809AB77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6D1827-39FC-C379-0278-1114D1C1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E4FDBD-3B0B-8FD0-DE6C-D982EA58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38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CC0E41-8A40-76C0-863E-F5BBE85E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229A6D-5522-5E24-4FC1-2869648D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703212-DC6D-9761-CA0E-39B19EF6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72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71526-C1EE-6D18-F891-92651321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049FA-2461-E302-FFC6-4B99BEDA3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69D15E-466E-3C75-C4B7-A5F8541CB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C33585-67A5-1E45-A638-D260E221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6A5889-2727-B260-0A89-288B31D5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4D849-722B-3D5C-FE56-3FA20AED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90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D9C1C-8138-5705-4A52-90E8ED02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DDCAA9-C44C-4F3C-8A9A-630F858972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62AA65-D839-E4AC-E1B7-CD0A6C7E9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AEDF37-9400-75C0-B2FD-D4BB0FC8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1FD3EB-D5E3-7759-BC5C-7EDE7A25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15F5BA-4E61-2972-FF2C-B7E3582C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02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9D249-2874-5B31-3DAC-4A62FC4ED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236CF6-E455-22DC-E9CE-FAEF62B26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8C3510-7FC9-50E6-30CB-3F99B5D5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D9982E-7BEE-DCEF-D168-C9B3EA58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67F08-687C-B5DE-829D-25060AF4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10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3A67FF-3F43-D9BB-A709-8960C0EC9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06A01C-4722-2B46-567E-DB8032BA4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6E024-ABB5-8768-5B3B-6CF36C9E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15E1F-1EA9-8C8E-12E9-FAD764AC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7F2AEF-0EFE-6119-D2C2-5DB6FA18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49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6BB60B-547F-0EF8-D98B-8C962A7A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D7EE84-0C04-9ABF-2F77-520141A6E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5B538-4635-F7AB-4E50-A79377675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FF0CC-3570-4ECA-B82E-A087111D516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03AD8-B5C2-57DF-E48D-B0E7320C0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3D236-8E27-FB3D-DCC5-D8EA7C2A9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31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14DE134-4E4E-BE29-3D75-E1E2B005975E}"/>
              </a:ext>
            </a:extLst>
          </p:cNvPr>
          <p:cNvCxnSpPr/>
          <p:nvPr/>
        </p:nvCxnSpPr>
        <p:spPr>
          <a:xfrm>
            <a:off x="5933732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E3DBFE5-E25E-710C-8A95-C848468CA01A}"/>
              </a:ext>
            </a:extLst>
          </p:cNvPr>
          <p:cNvSpPr txBox="1"/>
          <p:nvPr/>
        </p:nvSpPr>
        <p:spPr>
          <a:xfrm>
            <a:off x="72365" y="509608"/>
            <a:ext cx="5861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AC</a:t>
            </a:r>
            <a:r>
              <a:rPr lang="zh-CN" altLang="en-US" dirty="0"/>
              <a:t>就是使用数值估计</a:t>
            </a:r>
            <a:r>
              <a:rPr lang="en-US" altLang="zh-CN" dirty="0" err="1"/>
              <a:t>Pi_hat</a:t>
            </a:r>
            <a:r>
              <a:rPr lang="zh-CN" altLang="en-US" dirty="0"/>
              <a:t>代替真实值，并在运动过程中调整这个估计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C482FF8-E5E7-D00C-9DFC-C5931D02F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53" y="1270354"/>
            <a:ext cx="1848259" cy="15072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7C978C-B0F7-9F5E-2DEC-762AD782F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53" y="3323275"/>
            <a:ext cx="2867025" cy="34480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85D148F-8D22-B4EE-B67C-3F7815165E41}"/>
              </a:ext>
            </a:extLst>
          </p:cNvPr>
          <p:cNvSpPr txBox="1"/>
          <p:nvPr/>
        </p:nvSpPr>
        <p:spPr>
          <a:xfrm>
            <a:off x="3080901" y="4172646"/>
            <a:ext cx="28234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其中，</a:t>
            </a:r>
            <a:r>
              <a:rPr lang="en-US" altLang="zh-CN" dirty="0"/>
              <a:t>lambda</a:t>
            </a:r>
            <a:r>
              <a:rPr lang="zh-CN" altLang="en-US" dirty="0"/>
              <a:t>是人为设计的正定增益矩阵</a:t>
            </a:r>
            <a:endParaRPr lang="en-US" altLang="zh-CN" dirty="0"/>
          </a:p>
          <a:p>
            <a:r>
              <a:rPr lang="en-US" altLang="zh-CN" dirty="0"/>
              <a:t>Lambda</a:t>
            </a:r>
            <a:r>
              <a:rPr lang="zh-CN" altLang="en-US" dirty="0"/>
              <a:t>即误差经过增益矩阵加权后的修正项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为什么要减去</a:t>
            </a:r>
            <a:r>
              <a:rPr lang="en-US" altLang="zh-CN" dirty="0" err="1"/>
              <a:t>lambdae</a:t>
            </a:r>
            <a:r>
              <a:rPr lang="zh-CN" altLang="en-US" dirty="0"/>
              <a:t>：核心目的是为了让位置误差能够收敛到</a:t>
            </a:r>
            <a:r>
              <a:rPr lang="en-US" altLang="zh-CN" dirty="0"/>
              <a:t>0</a:t>
            </a:r>
            <a:r>
              <a:rPr lang="zh-CN" altLang="en-US" dirty="0"/>
              <a:t>，而不仅仅让速度误差收敛到</a:t>
            </a:r>
            <a:r>
              <a:rPr lang="en-US" altLang="zh-CN" dirty="0"/>
              <a:t>0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FAA31F-E3AD-8B7A-973E-E85530EC8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435" y="86675"/>
            <a:ext cx="1883554" cy="32899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6AA67B6-52F2-74FB-C6DA-0BDF512B2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992" y="1392692"/>
            <a:ext cx="3439130" cy="28318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92F045-DE81-C3B0-AF16-0476A341B3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486" y="2023959"/>
            <a:ext cx="1298142" cy="312485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3F81231-8D64-00A5-C4EB-6939F645EBBB}"/>
              </a:ext>
            </a:extLst>
          </p:cNvPr>
          <p:cNvCxnSpPr>
            <a:cxnSpLocks/>
          </p:cNvCxnSpPr>
          <p:nvPr/>
        </p:nvCxnSpPr>
        <p:spPr>
          <a:xfrm>
            <a:off x="0" y="2973445"/>
            <a:ext cx="32036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7AA7E05-6D26-DC1E-894D-0743FE9039A6}"/>
              </a:ext>
            </a:extLst>
          </p:cNvPr>
          <p:cNvSpPr txBox="1"/>
          <p:nvPr/>
        </p:nvSpPr>
        <p:spPr>
          <a:xfrm>
            <a:off x="2350414" y="2354532"/>
            <a:ext cx="3612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因此自适应控制器需要的主要数据是</a:t>
            </a:r>
            <a:r>
              <a:rPr lang="en-US" altLang="zh-CN" dirty="0">
                <a:solidFill>
                  <a:srgbClr val="FF0000"/>
                </a:solidFill>
              </a:rPr>
              <a:t>Ya</a:t>
            </a:r>
            <a:r>
              <a:rPr lang="zh-CN" altLang="en-US" dirty="0">
                <a:solidFill>
                  <a:srgbClr val="FF0000"/>
                </a:solidFill>
              </a:rPr>
              <a:t>矩阵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BCAF98C-25D0-E4A9-5D9F-9BE24A399C09}"/>
              </a:ext>
            </a:extLst>
          </p:cNvPr>
          <p:cNvCxnSpPr/>
          <p:nvPr/>
        </p:nvCxnSpPr>
        <p:spPr>
          <a:xfrm>
            <a:off x="3203689" y="2973445"/>
            <a:ext cx="0" cy="11992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41FBA42-353D-5774-7B63-D51AB1C49FB2}"/>
              </a:ext>
            </a:extLst>
          </p:cNvPr>
          <p:cNvCxnSpPr/>
          <p:nvPr/>
        </p:nvCxnSpPr>
        <p:spPr>
          <a:xfrm>
            <a:off x="3203689" y="4172646"/>
            <a:ext cx="27300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08406E40-82A8-6743-2A21-6BCE8EAF8098}"/>
              </a:ext>
            </a:extLst>
          </p:cNvPr>
          <p:cNvSpPr txBox="1"/>
          <p:nvPr/>
        </p:nvSpPr>
        <p:spPr>
          <a:xfrm>
            <a:off x="3249738" y="3000863"/>
            <a:ext cx="26546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因为</a:t>
            </a:r>
            <a:r>
              <a:rPr lang="en-US" altLang="zh-CN" sz="1600" dirty="0"/>
              <a:t>Y</a:t>
            </a:r>
            <a:r>
              <a:rPr lang="zh-CN" altLang="en-US" sz="1600" dirty="0"/>
              <a:t>和</a:t>
            </a:r>
            <a:r>
              <a:rPr lang="en-US" altLang="zh-CN" sz="1600" dirty="0"/>
              <a:t>Ya</a:t>
            </a:r>
            <a:r>
              <a:rPr lang="zh-CN" altLang="en-US" sz="1600" dirty="0"/>
              <a:t>描述的是同一个机器人，只是代入的运动变量不同，因此</a:t>
            </a:r>
            <a:r>
              <a:rPr lang="en-US" altLang="zh-CN" sz="1600" dirty="0">
                <a:solidFill>
                  <a:srgbClr val="FF0000"/>
                </a:solidFill>
              </a:rPr>
              <a:t>pi</a:t>
            </a:r>
            <a:r>
              <a:rPr lang="zh-CN" altLang="en-US" sz="1600" dirty="0">
                <a:solidFill>
                  <a:srgbClr val="FF0000"/>
                </a:solidFill>
              </a:rPr>
              <a:t>是同一个</a:t>
            </a:r>
            <a:r>
              <a:rPr lang="en-US" altLang="zh-CN" sz="1600" dirty="0">
                <a:solidFill>
                  <a:srgbClr val="FF0000"/>
                </a:solidFill>
              </a:rPr>
              <a:t>pi</a:t>
            </a:r>
            <a:r>
              <a:rPr lang="zh-CN" altLang="en-US" sz="1600" dirty="0"/>
              <a:t>，即机器人的质心等数据不变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3A42321-81FD-DD51-A888-EE802EEF0575}"/>
              </a:ext>
            </a:extLst>
          </p:cNvPr>
          <p:cNvSpPr txBox="1"/>
          <p:nvPr/>
        </p:nvSpPr>
        <p:spPr>
          <a:xfrm>
            <a:off x="5933732" y="0"/>
            <a:ext cx="384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Ya</a:t>
            </a:r>
            <a:r>
              <a:rPr lang="zh-CN" altLang="en-US" dirty="0"/>
              <a:t>如何计算：</a:t>
            </a:r>
            <a:endParaRPr lang="en-US" altLang="zh-CN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AF44F90-DEF4-DF7D-4CA4-5CD3A973A008}"/>
              </a:ext>
            </a:extLst>
          </p:cNvPr>
          <p:cNvSpPr txBox="1"/>
          <p:nvPr/>
        </p:nvSpPr>
        <p:spPr>
          <a:xfrm>
            <a:off x="5963121" y="363591"/>
            <a:ext cx="6228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因为已经构建了参考动力学，但是</a:t>
            </a:r>
            <a:r>
              <a:rPr lang="en-US" altLang="zh-CN" dirty="0"/>
              <a:t>M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G</a:t>
            </a:r>
            <a:r>
              <a:rPr lang="zh-CN" altLang="en-US" dirty="0"/>
              <a:t>矩阵都是不变的</a:t>
            </a:r>
            <a:endParaRPr lang="en-US" altLang="zh-CN" dirty="0"/>
          </a:p>
          <a:p>
            <a:r>
              <a:rPr lang="zh-CN" altLang="en-US" dirty="0"/>
              <a:t>因此就可以将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G</a:t>
            </a:r>
            <a:r>
              <a:rPr lang="zh-CN" altLang="en-US" dirty="0"/>
              <a:t>矩阵提取出来，换个参数就可以构建出</a:t>
            </a:r>
            <a:r>
              <a:rPr lang="en-US" altLang="zh-CN" dirty="0" err="1"/>
              <a:t>tau_a</a:t>
            </a:r>
            <a:r>
              <a:rPr lang="zh-CN" altLang="en-US" dirty="0"/>
              <a:t>的公式，得到</a:t>
            </a:r>
            <a:r>
              <a:rPr lang="en-US" altLang="zh-CN" dirty="0" err="1"/>
              <a:t>tau_a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3F75B25-A531-287D-F384-3A763AF619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3" y="1270354"/>
            <a:ext cx="3439130" cy="283186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6F433B21-1121-E7A9-891B-0890D4A4198D}"/>
              </a:ext>
            </a:extLst>
          </p:cNvPr>
          <p:cNvSpPr txBox="1"/>
          <p:nvPr/>
        </p:nvSpPr>
        <p:spPr>
          <a:xfrm>
            <a:off x="5963120" y="1615438"/>
            <a:ext cx="6228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之后左边有</a:t>
            </a:r>
            <a:r>
              <a:rPr lang="en-US" altLang="zh-CN" dirty="0" err="1"/>
              <a:t>tau_a</a:t>
            </a:r>
            <a:r>
              <a:rPr lang="zh-CN" altLang="en-US" dirty="0"/>
              <a:t>，右边的</a:t>
            </a:r>
            <a:r>
              <a:rPr lang="en-US" altLang="zh-CN" dirty="0"/>
              <a:t>pi</a:t>
            </a:r>
            <a:r>
              <a:rPr lang="zh-CN" altLang="en-US" dirty="0"/>
              <a:t>已经求出，就可以直接求解得到</a:t>
            </a:r>
            <a:r>
              <a:rPr lang="en-US" altLang="zh-CN" dirty="0"/>
              <a:t>Ya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FB9F89-3CE0-5EC3-B6EA-245FF8C08487}"/>
              </a:ext>
            </a:extLst>
          </p:cNvPr>
          <p:cNvSpPr txBox="1"/>
          <p:nvPr/>
        </p:nvSpPr>
        <p:spPr>
          <a:xfrm>
            <a:off x="5963125" y="2634950"/>
            <a:ext cx="622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这样直接对</a:t>
            </a:r>
            <a:r>
              <a:rPr lang="en-US" altLang="zh-CN" dirty="0"/>
              <a:t>pi</a:t>
            </a:r>
            <a:r>
              <a:rPr lang="zh-CN" altLang="en-US" dirty="0"/>
              <a:t>求雅可比，就可以得到</a:t>
            </a:r>
            <a:r>
              <a:rPr lang="en-US" altLang="zh-CN" dirty="0"/>
              <a:t>Ya</a:t>
            </a:r>
            <a:r>
              <a:rPr lang="zh-CN" altLang="en-US" dirty="0"/>
              <a:t>了</a:t>
            </a:r>
            <a:endParaRPr lang="en-US" altLang="zh-CN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1FF1D2C-ECD2-FAA2-2883-10165459BA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17" y="2261769"/>
            <a:ext cx="1298142" cy="31248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A0BD1E2C-B85A-BC6C-ED60-0928B93178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6344" y="3091287"/>
            <a:ext cx="5675631" cy="2168621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F2B7EBCE-3CD3-B4A6-FC66-3EED95410554}"/>
              </a:ext>
            </a:extLst>
          </p:cNvPr>
          <p:cNvSpPr txBox="1"/>
          <p:nvPr/>
        </p:nvSpPr>
        <p:spPr>
          <a:xfrm>
            <a:off x="6136344" y="5427194"/>
            <a:ext cx="5211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相关代码参见：</a:t>
            </a:r>
            <a:r>
              <a:rPr lang="en-US" altLang="zh-CN" dirty="0" err="1"/>
              <a:t>generate_Y_a.m</a:t>
            </a:r>
            <a:endParaRPr lang="en-US" altLang="zh-CN" dirty="0"/>
          </a:p>
          <a:p>
            <a:r>
              <a:rPr lang="zh-CN" altLang="en-US" dirty="0"/>
              <a:t>前置代码为：</a:t>
            </a:r>
            <a:r>
              <a:rPr lang="zh-CN" altLang="zh-CN" dirty="0"/>
              <a:t>MATLAB\RNEA_SYM.m，MATLAB\Mat_out.m，</a:t>
            </a:r>
            <a:endParaRPr lang="en-US" altLang="zh-CN" dirty="0"/>
          </a:p>
          <a:p>
            <a:r>
              <a:rPr lang="zh-CN" altLang="zh-CN" dirty="0"/>
              <a:t>MATLAB\add_friction.m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983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D164757-3299-52DE-B0CF-435E99794D0B}"/>
              </a:ext>
            </a:extLst>
          </p:cNvPr>
          <p:cNvSpPr txBox="1"/>
          <p:nvPr/>
        </p:nvSpPr>
        <p:spPr>
          <a:xfrm>
            <a:off x="1" y="59206"/>
            <a:ext cx="51640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通过程序计算出来的</a:t>
            </a:r>
            <a:r>
              <a:rPr lang="en-US" altLang="zh-CN" dirty="0" err="1"/>
              <a:t>Y_a</a:t>
            </a:r>
            <a:r>
              <a:rPr lang="zh-CN" altLang="en-US" dirty="0"/>
              <a:t>值为：</a:t>
            </a:r>
            <a:endParaRPr lang="en-US" altLang="zh-CN" dirty="0"/>
          </a:p>
          <a:p>
            <a:r>
              <a:rPr lang="en-US" altLang="zh-CN" dirty="0" err="1"/>
              <a:t>Y_a_reference</a:t>
            </a:r>
            <a:r>
              <a:rPr lang="en-US" altLang="zh-CN" dirty="0"/>
              <a:t> = </a:t>
            </a:r>
            <a:r>
              <a:rPr lang="en-US" altLang="zh-CN" dirty="0" err="1"/>
              <a:t>jacobian</a:t>
            </a:r>
            <a:r>
              <a:rPr lang="en-US" altLang="zh-CN" dirty="0"/>
              <a:t>(</a:t>
            </a:r>
            <a:r>
              <a:rPr lang="en-US" altLang="zh-CN" dirty="0" err="1"/>
              <a:t>tau_a_reference,pi_a</a:t>
            </a:r>
            <a:r>
              <a:rPr lang="en-US" altLang="zh-CN" dirty="0"/>
              <a:t>) =</a:t>
            </a:r>
          </a:p>
          <a:p>
            <a:r>
              <a:rPr lang="en-US" altLang="zh-CN" dirty="0"/>
              <a:t>[dq_1, ar_1, 2*ar_1*cos(q_2) + ar_2*cos(q_2) - dq_2*vr_1*sin(q_2) - vr_2*sin(q_2)*(dq_1 + dq_2), g*sin(q_1), ar_1 + ar_2, g*sin(q_1 + q_2),    0]</a:t>
            </a:r>
          </a:p>
          <a:p>
            <a:r>
              <a:rPr lang="en-US" altLang="zh-CN" dirty="0"/>
              <a:t>[   0,    0,                                                 ar_1*cos(q_2) + dq_1*vr_1*sin(q_2),          0, ar_1 + ar_2, g*sin(q_1 + q_2), dq_2]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D1D4B3-C266-50D1-0468-2D5C29616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2920"/>
            <a:ext cx="12192001" cy="91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8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5F9BCB3-2976-4229-FC55-BA5A7C2A3BF6}"/>
              </a:ext>
            </a:extLst>
          </p:cNvPr>
          <p:cNvCxnSpPr/>
          <p:nvPr/>
        </p:nvCxnSpPr>
        <p:spPr>
          <a:xfrm>
            <a:off x="5933732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B611BF04-CFC0-A182-6672-57A4E370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31" y="303853"/>
            <a:ext cx="5902450" cy="28895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4794C3-1FBB-5199-5E36-AF1B093B8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5" y="303853"/>
            <a:ext cx="4769588" cy="44605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ACFCC9-B336-3D02-6AF1-525545390628}"/>
              </a:ext>
            </a:extLst>
          </p:cNvPr>
          <p:cNvSpPr txBox="1"/>
          <p:nvPr/>
        </p:nvSpPr>
        <p:spPr>
          <a:xfrm>
            <a:off x="763096" y="4953548"/>
            <a:ext cx="4012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核心原因：将位置误差</a:t>
            </a:r>
            <a:r>
              <a:rPr lang="en-US" altLang="zh-CN" dirty="0"/>
              <a:t>e</a:t>
            </a:r>
            <a:r>
              <a:rPr lang="zh-CN" altLang="en-US" dirty="0"/>
              <a:t>和速度误差</a:t>
            </a:r>
            <a:r>
              <a:rPr lang="en-US" altLang="zh-CN" dirty="0"/>
              <a:t>de</a:t>
            </a:r>
            <a:r>
              <a:rPr lang="zh-CN" altLang="en-US" dirty="0">
                <a:solidFill>
                  <a:srgbClr val="FF0000"/>
                </a:solidFill>
              </a:rPr>
              <a:t>组合成一个变量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EADC90D-643D-CC96-6F02-26D05B3FD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542" y="3907578"/>
            <a:ext cx="3754081" cy="281673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3898B72-118A-CF4B-A366-75799CF1C751}"/>
              </a:ext>
            </a:extLst>
          </p:cNvPr>
          <p:cNvSpPr txBox="1"/>
          <p:nvPr/>
        </p:nvSpPr>
        <p:spPr>
          <a:xfrm>
            <a:off x="6181229" y="3429000"/>
            <a:ext cx="279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是否为同一个</a:t>
            </a:r>
            <a:r>
              <a:rPr lang="en-US" altLang="zh-CN" dirty="0"/>
              <a:t>lambda</a:t>
            </a:r>
            <a:r>
              <a:rPr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02775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4D36002-45F0-3E98-DF9A-7DFF0B1EC645}"/>
              </a:ext>
            </a:extLst>
          </p:cNvPr>
          <p:cNvSpPr txBox="1"/>
          <p:nvPr/>
        </p:nvSpPr>
        <p:spPr>
          <a:xfrm>
            <a:off x="0" y="124990"/>
            <a:ext cx="569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实际控制律：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8C2B50-086E-8D8B-4F3A-D9C4C74D879E}"/>
              </a:ext>
            </a:extLst>
          </p:cNvPr>
          <p:cNvSpPr txBox="1"/>
          <p:nvPr/>
        </p:nvSpPr>
        <p:spPr>
          <a:xfrm>
            <a:off x="92097" y="968437"/>
            <a:ext cx="569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Ks</a:t>
            </a:r>
            <a:r>
              <a:rPr lang="zh-CN" altLang="en-US" dirty="0"/>
              <a:t>为人为设计的</a:t>
            </a:r>
            <a:r>
              <a:rPr lang="zh-CN" altLang="en-US" dirty="0">
                <a:solidFill>
                  <a:srgbClr val="FF0000"/>
                </a:solidFill>
              </a:rPr>
              <a:t>反馈增益矩阵</a:t>
            </a:r>
            <a:r>
              <a:rPr lang="zh-CN" altLang="en-US" dirty="0"/>
              <a:t>，通常要求是对称正定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4D5AFC-F0F5-7869-A969-2BD75D0BF658}"/>
              </a:ext>
            </a:extLst>
          </p:cNvPr>
          <p:cNvSpPr txBox="1"/>
          <p:nvPr/>
        </p:nvSpPr>
        <p:spPr>
          <a:xfrm>
            <a:off x="92096" y="1363512"/>
            <a:ext cx="5696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Pi_hat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动力学参数估计向量</a:t>
            </a:r>
            <a:r>
              <a:rPr lang="zh-CN" altLang="en-US" dirty="0"/>
              <a:t>，用于参数辨识或自适应律更新，需要实时更新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EA12AC-85BE-A58D-592E-1A4B0FFB0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23" y="2061819"/>
            <a:ext cx="4278062" cy="27343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67C32C-ABBA-698C-993F-1186C1AE7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16" y="202960"/>
            <a:ext cx="1635269" cy="2499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C59381C-C34E-50AF-BAA2-76D353089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341" y="544210"/>
            <a:ext cx="1345820" cy="33276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0463466-6769-3E7F-9342-51FC451D3A37}"/>
              </a:ext>
            </a:extLst>
          </p:cNvPr>
          <p:cNvSpPr txBox="1"/>
          <p:nvPr/>
        </p:nvSpPr>
        <p:spPr>
          <a:xfrm>
            <a:off x="6096000" y="44403"/>
            <a:ext cx="2823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为什么不使用期望速度：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F24AE09-C787-9191-85F4-68CE43E0D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783" y="554423"/>
            <a:ext cx="4874779" cy="5749153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A890749-116D-E33F-65AC-E4328BEBEB45}"/>
              </a:ext>
            </a:extLst>
          </p:cNvPr>
          <p:cNvCxnSpPr/>
          <p:nvPr/>
        </p:nvCxnSpPr>
        <p:spPr>
          <a:xfrm>
            <a:off x="578900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79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AF27DC4-4176-633E-D534-3B340CC78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04" y="804519"/>
            <a:ext cx="6615199" cy="52489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AD7F2A7-C134-90B8-9BFA-E0E6CB6CF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969" y="1341997"/>
            <a:ext cx="5815031" cy="417400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DCE9E06-7BBA-99C0-1510-341AAE287EE5}"/>
              </a:ext>
            </a:extLst>
          </p:cNvPr>
          <p:cNvSpPr txBox="1"/>
          <p:nvPr/>
        </p:nvSpPr>
        <p:spPr>
          <a:xfrm>
            <a:off x="2662914" y="6177134"/>
            <a:ext cx="159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参数基本收敛</a:t>
            </a:r>
          </a:p>
        </p:txBody>
      </p:sp>
    </p:spTree>
    <p:extLst>
      <p:ext uri="{BB962C8B-B14F-4D97-AF65-F5344CB8AC3E}">
        <p14:creationId xmlns:p14="http://schemas.microsoft.com/office/powerpoint/2010/main" val="56738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666</Words>
  <Application>Microsoft Office PowerPoint</Application>
  <PresentationFormat>宽屏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智健 尹</dc:creator>
  <cp:lastModifiedBy>智健 尹</cp:lastModifiedBy>
  <cp:revision>17</cp:revision>
  <dcterms:created xsi:type="dcterms:W3CDTF">2026-10-10T10:49:53Z</dcterms:created>
  <dcterms:modified xsi:type="dcterms:W3CDTF">2026-10-14T15:14:10Z</dcterms:modified>
</cp:coreProperties>
</file>